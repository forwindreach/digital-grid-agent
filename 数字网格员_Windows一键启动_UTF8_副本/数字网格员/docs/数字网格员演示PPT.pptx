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开场：社区治理大量依赖网格员人工登记、分拣、回复，数字网格员用 AI Agent 把这个过程自动化。</a:t>
            </a:r>
          </a:p>
          <a:p>
            <a:r>
              <a:t>一句话定位：让居民诉求从自然语言对话变成可处置、可归档的标准化工单。</a:t>
            </a:r>
          </a:p>
          <a:p>
            <a:r>
              <a:t>[Sources] 系统运行截图与项目文档素材来自本机运行版本。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先讲痛点，让听众理解为什么需要数字网格员。</a:t>
            </a:r>
          </a:p>
          <a:p>
            <a:r>
              <a:t>强调不是替代网格员，而是把重复劳动交给系统。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架构图解释系统分层：小程序只做入口，后端做业务和权限，HiAgent 做智能。</a:t>
            </a:r>
          </a:p>
          <a:p>
            <a:r>
              <a:t>[Sources] 架构图为项目文档原创素材。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讲一条完整故事：居民登记地址，描述噪音，HiAgent 追问时长和频率，居民确认后生成工单。</a:t>
            </a:r>
          </a:p>
          <a:p>
            <a:r>
              <a:t>强调每个环节都留痕，网格员处置后反馈居民并归档。</a:t>
            </a:r>
          </a:p>
          <a:p>
            <a:r>
              <a:t>[Sources] 流程图为项目文档原创素材。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展示小程序三屏截图：首页、对话、工单详情。</a:t>
            </a:r>
          </a:p>
          <a:p>
            <a:r>
              <a:t>强调居民端不暴露网格员手机号等内部信息。</a:t>
            </a:r>
          </a:p>
          <a:p>
            <a:r>
              <a:t>[Sources] 小程序界面为基于项目设计的演示截图。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展示真实网页端工单列表截图。</a:t>
            </a:r>
          </a:p>
          <a:p>
            <a:r>
              <a:t>强调权限过滤在后端执行，不能通过前端绕过。</a:t>
            </a:r>
          </a:p>
          <a:p>
            <a:r>
              <a:t>[Sources] 网页端截图来自本机运行版本。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强调标准 Excel 模板降低录入门槛，微信群回收后统一导入。</a:t>
            </a:r>
          </a:p>
          <a:p>
            <a:r>
              <a:t>年龄较大的居民不需要自己操作小程序，可由网格员代为新增登记。</a:t>
            </a:r>
          </a:p>
          <a:p>
            <a:r>
              <a:t>[Sources] 截图来自数字网格员网页端居民档案登记页面。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解释为什么工单不能只放聊天记录：结构化字段才能支撑分派、统计、回访和归档。</a:t>
            </a:r>
          </a:p>
          <a:p>
            <a:r>
              <a:t>[Sources] 工单字段图为项目文档原创素材。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强调数据隔离是后端能力，不是前端隐藏。</a:t>
            </a:r>
          </a:p>
          <a:p>
            <a:r>
              <a:t>可用示例：华林网格工单不会出现在观风亭网格员列表。</a:t>
            </a:r>
          </a:p>
          <a:p>
            <a:r>
              <a:t>[Sources] 权限模型图为项目文档原创素材。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这是政务项目最关键的立场：AI 不替代人，也不承担最终责任。</a:t>
            </a:r>
          </a:p>
          <a:p>
            <a:r>
              <a:t>网格员确认归档，Agent 只负责起草和执行标准动作。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强调工程可复制性，不是一次性演示。</a:t>
            </a:r>
          </a:p>
          <a:p>
            <a:r>
              <a:t>[Sources] 部署图为项目文档原创素材。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用真实验证结果说明系统可用，而不是停留在设计。</a:t>
            </a:r>
          </a:p>
          <a:p>
            <a:r>
              <a:t>[Sources] 网页端详情截图来自本机运行版本。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收尾回到开头的定位：AI 为网格员提效，网格员为社区负责。</a:t>
            </a:r>
          </a:p>
          <a:p>
            <a:r>
              <a:t>强调系统可复制、可部署，具有工程化落地基础。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4D399"/>
          </a:solidFill>
          <a:ln w="9525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62000" y="1619250"/>
            <a:ext cx="47625" cy="2857500"/>
          </a:xfrm>
          <a:prstGeom prst="rect">
            <a:avLst/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219200" y="200025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2D3EE"/>
                </a:solidFill>
              </a:defRPr>
            </a:pPr>
            <a:r>
              <a:rPr sz="1125" b="1">
                <a:solidFill>
                  <a:srgbClr val="22D3EE"/>
                </a:solidFill>
              </a:rPr>
              <a:t>DIGITAL GRID WORKER</a:t>
            </a:r>
            <a:endParaRPr sz="1125" b="1">
              <a:solidFill>
                <a:srgbClr val="22D3EE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219200" y="2457450"/>
            <a:ext cx="8572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100" b="1">
                <a:solidFill>
                  <a:srgbClr val="F8FAFC"/>
                </a:solidFill>
              </a:defRPr>
            </a:pPr>
            <a:r>
              <a:rPr sz="5100" b="1">
                <a:solidFill>
                  <a:srgbClr val="F8FAFC"/>
                </a:solidFill>
              </a:rPr>
              <a:t>数字网格员</a:t>
            </a:r>
            <a:endParaRPr sz="5100" b="1">
              <a:solidFill>
                <a:srgbClr val="F8FAFC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257300" y="3638550"/>
            <a:ext cx="7620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>
                <a:solidFill>
                  <a:srgbClr val="34D399"/>
                </a:solidFill>
              </a:defRPr>
            </a:pPr>
            <a:r>
              <a:rPr sz="2100" b="0">
                <a:solidFill>
                  <a:srgbClr val="34D399"/>
                </a:solidFill>
              </a:rPr>
              <a:t>AI Agent 驱动的社区治理自动化</a:t>
            </a:r>
            <a:endParaRPr sz="2100" b="0">
              <a:solidFill>
                <a:srgbClr val="34D399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57300" y="445770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火山引擎 HiAgent · 微信小程序 · 网格化治理</a:t>
            </a:r>
            <a:endParaRPr sz="1350" b="0">
              <a:solidFill>
                <a:srgbClr val="94A3B8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257300" y="50101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CBD5E1"/>
                </a:solidFill>
              </a:defRPr>
            </a:pPr>
            <a:r>
              <a:rPr sz="1200" b="0">
                <a:solidFill>
                  <a:srgbClr val="CBD5E1"/>
                </a:solidFill>
              </a:rPr>
              <a:t>居民诉求 → 智能识别 → 规范工单 → 网格分派 → 闭环处置</a:t>
            </a:r>
            <a:endParaRPr sz="1200" b="0">
              <a:solidFill>
                <a:srgbClr val="CBD5E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3246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数字网格员 · AI Agent 驱动的社区治理自动化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25200" y="63246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02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4191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DIGITAL GRID WORKER</a:t>
            </a:r>
            <a:endParaRPr sz="975" b="1">
              <a:solidFill>
                <a:srgbClr val="22D3EE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7429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社区治理的重复劳动与信息断点</a:t>
            </a:r>
            <a:endParaRPr sz="2625" b="1">
              <a:solidFill>
                <a:srgbClr val="F8FAF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409700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网格员真正缺的不是人手，而是自动化处理高频事务的能力</a:t>
            </a:r>
            <a:endParaRPr sz="1350" b="0">
              <a:solidFill>
                <a:srgbClr val="94A3B8"/>
              </a:solidFill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85800" y="1885950"/>
            <a:ext cx="609600" cy="0"/>
          </a:xfrm>
          <a:prstGeom prst="line">
            <a:avLst/>
          </a:prstGeom>
          <a:noFill/>
          <a:ln w="28575">
            <a:solidFill>
              <a:srgbClr val="34D399"/>
            </a:solidFill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685800" y="24193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2343150"/>
            <a:ext cx="561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诉求渠道分散，微信群、电话、小程序重复登记</a:t>
            </a:r>
            <a:endParaRPr sz="1500" b="0">
              <a:solidFill>
                <a:srgbClr val="F8FAFC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85800" y="32004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71550" y="3124200"/>
            <a:ext cx="561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工单缺少详细住址、持续时长、发生频率，需要二次确认</a:t>
            </a:r>
            <a:endParaRPr sz="1500" b="0">
              <a:solidFill>
                <a:srgbClr val="F8FAFC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85800" y="39814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71550" y="3905250"/>
            <a:ext cx="561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派单依赖人工经验，容易派错社区或网格</a:t>
            </a:r>
            <a:endParaRPr sz="1500" b="0">
              <a:solidFill>
                <a:srgbClr val="F8FAFC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85800" y="47625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71550" y="4686300"/>
            <a:ext cx="561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政策咨询反复回答，回复口径不一致</a:t>
            </a:r>
            <a:endParaRPr sz="1500" b="0">
              <a:solidFill>
                <a:srgbClr val="F8FAFC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7429500" y="2381250"/>
            <a:ext cx="4076700" cy="3143250"/>
          </a:xfrm>
          <a:prstGeom prst="roundRect">
            <a:avLst>
              <a:gd name="adj" fmla="val 5455"/>
            </a:avLst>
          </a:prstGeom>
          <a:solidFill>
            <a:srgbClr val="0C2233"/>
          </a:solidFill>
          <a:ln w="9525">
            <a:solidFill>
              <a:srgbClr val="1E4A6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810500" y="270510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2D3EE"/>
                </a:solidFill>
              </a:defRPr>
            </a:pPr>
            <a:r>
              <a:rPr sz="1800" b="1">
                <a:solidFill>
                  <a:srgbClr val="22D3EE"/>
                </a:solidFill>
              </a:rPr>
              <a:t>网格员的一天</a:t>
            </a:r>
            <a:endParaRPr sz="1800" b="1">
              <a:solidFill>
                <a:srgbClr val="22D3EE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810500" y="3219450"/>
            <a:ext cx="3238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登记 → 追问地址 → 追问时间 → 分派部门 → 回复居民 → 归档，大量时间消耗在重复且标准化的动作上。</a:t>
            </a:r>
            <a:endParaRPr sz="1350" b="0">
              <a:solidFill>
                <a:srgbClr val="F8FAFC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10500" y="4629150"/>
            <a:ext cx="323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34D399"/>
                </a:solidFill>
              </a:defRPr>
            </a:pPr>
            <a:r>
              <a:rPr sz="1350" b="1">
                <a:solidFill>
                  <a:srgbClr val="34D399"/>
                </a:solidFill>
              </a:rPr>
              <a:t>数字网格员要做的，就是把这一段自动化。</a:t>
            </a:r>
            <a:endParaRPr sz="1350" b="1">
              <a:solidFill>
                <a:srgbClr val="34D39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3246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数字网格员 · AI Agent 驱动的社区治理自动化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25200" y="63246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03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4191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DIGITAL GRID WORKER</a:t>
            </a:r>
            <a:endParaRPr sz="975" b="1">
              <a:solidFill>
                <a:srgbClr val="22D3EE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7429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从居民诉求到标准化工单的自动化闭环</a:t>
            </a:r>
            <a:endParaRPr sz="2625" b="1">
              <a:solidFill>
                <a:srgbClr val="F8FAF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409700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系统以 HiAgent 为核心，微信小程序、网页工作台与后端共同完成治理闭环</a:t>
            </a:r>
            <a:endParaRPr sz="1350" b="0">
              <a:solidFill>
                <a:srgbClr val="94A3B8"/>
              </a:solidFill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85800" y="1885950"/>
            <a:ext cx="609600" cy="0"/>
          </a:xfrm>
          <a:prstGeom prst="line">
            <a:avLst/>
          </a:prstGeom>
          <a:noFill/>
          <a:ln w="28575">
            <a:solidFill>
              <a:srgbClr val="34D399"/>
            </a:solidFill>
            <a:prstDash val="solid"/>
          </a:ln>
        </p:spPr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2286000"/>
            <a:ext cx="5334000" cy="3200400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685800" y="23812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居民微信小程序</a:t>
            </a:r>
            <a:endParaRPr sz="1800" b="1">
              <a:solidFill>
                <a:srgbClr val="F8FAFC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2800350"/>
            <a:ext cx="476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94A3B8"/>
                </a:solidFill>
              </a:defRPr>
            </a:pPr>
            <a:r>
              <a:rPr sz="1275" b="0">
                <a:solidFill>
                  <a:srgbClr val="94A3B8"/>
                </a:solidFill>
              </a:rPr>
              <a:t>登记地址后通过自然语言提交诉求，并随时查看工单进度。</a:t>
            </a:r>
            <a:endParaRPr sz="1275" b="0">
              <a:solidFill>
                <a:srgbClr val="94A3B8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36004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数字网格员后端</a:t>
            </a:r>
            <a:endParaRPr sz="1800" b="1">
              <a:solidFill>
                <a:srgbClr val="F8FAFC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4019550"/>
            <a:ext cx="476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94A3B8"/>
                </a:solidFill>
              </a:defRPr>
            </a:pPr>
            <a:r>
              <a:rPr sz="1275" b="0">
                <a:solidFill>
                  <a:srgbClr val="94A3B8"/>
                </a:solidFill>
              </a:rPr>
              <a:t>完成身份认证、会话持久化、工单落库、网格分派和权限隔离。</a:t>
            </a:r>
            <a:endParaRPr sz="1275" b="0">
              <a:solidFill>
                <a:srgbClr val="94A3B8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85800" y="48196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HiAgent 智能体</a:t>
            </a:r>
            <a:endParaRPr sz="1800" b="1">
              <a:solidFill>
                <a:srgbClr val="F8FAFC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85800" y="5238750"/>
            <a:ext cx="476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94A3B8"/>
                </a:solidFill>
              </a:defRPr>
            </a:pPr>
            <a:r>
              <a:rPr sz="1275" b="0">
                <a:solidFill>
                  <a:srgbClr val="94A3B8"/>
                </a:solidFill>
              </a:rPr>
              <a:t>负责意图识别、政策 RAG、信息补齐、工单草稿和居民回复。</a:t>
            </a:r>
            <a:endParaRPr sz="1275" b="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3246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数字网格员 · AI Agent 驱动的社区治理自动化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25200" y="63246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04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4191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DIGITAL GRID WORKER</a:t>
            </a:r>
            <a:endParaRPr sz="975" b="1">
              <a:solidFill>
                <a:srgbClr val="22D3EE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7429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一次诉求，全流程留痕</a:t>
            </a:r>
            <a:endParaRPr sz="2625" b="1">
              <a:solidFill>
                <a:srgbClr val="F8FAF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409700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居民描述问题后，系统自动补齐关键信息并生成标准化工单</a:t>
            </a:r>
            <a:endParaRPr sz="1350" b="0">
              <a:solidFill>
                <a:srgbClr val="94A3B8"/>
              </a:solidFill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85800" y="1885950"/>
            <a:ext cx="609600" cy="0"/>
          </a:xfrm>
          <a:prstGeom prst="line">
            <a:avLst/>
          </a:prstGeom>
          <a:noFill/>
          <a:ln w="28575">
            <a:solidFill>
              <a:srgbClr val="34D399"/>
            </a:solidFill>
            <a:prstDash val="solid"/>
          </a:ln>
        </p:spPr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2250" y="2000250"/>
            <a:ext cx="6667500" cy="4000500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1809750" y="61912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登记地址 → 对话提交 → 信息补齐 → 工单确认 → 网格分派 → 处置归档</a:t>
            </a:r>
            <a:endParaRPr sz="1050" b="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3246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数字网格员 · AI Agent 驱动的社区治理自动化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25200" y="63246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05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4191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DIGITAL GRID WORKER</a:t>
            </a:r>
            <a:endParaRPr sz="975" b="1">
              <a:solidFill>
                <a:srgbClr val="22D3EE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7429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居民端：先登记，再对话，全程可查</a:t>
            </a:r>
            <a:endParaRPr sz="2625" b="1">
              <a:solidFill>
                <a:srgbClr val="F8FAF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409700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小程序用结构化流程保证每件工单都能准确落到社区和网格</a:t>
            </a:r>
            <a:endParaRPr sz="1350" b="0">
              <a:solidFill>
                <a:srgbClr val="94A3B8"/>
              </a:solidFill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85800" y="1885950"/>
            <a:ext cx="609600" cy="0"/>
          </a:xfrm>
          <a:prstGeom prst="line">
            <a:avLst/>
          </a:prstGeom>
          <a:noFill/>
          <a:ln w="28575">
            <a:solidFill>
              <a:srgbClr val="34D399"/>
            </a:solidFill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71700"/>
            <a:ext cx="5334000" cy="3333750"/>
          </a:xfrm>
          <a:prstGeom prst="rect">
            <a:avLst/>
          </a:prstGeom>
        </p:spPr>
      </p:pic>
      <p:sp>
        <p:nvSpPr>
          <p:cNvPr id="9" name="圆角矩形 8"/>
          <p:cNvSpPr>
            <a:spLocks noGrp="1"/>
          </p:cNvSpPr>
          <p:nvPr/>
        </p:nvSpPr>
        <p:spPr>
          <a:xfrm>
            <a:off x="6477000" y="24574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762750" y="23812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先登记姓名、手机号、社区、网格和楼栋房号</a:t>
            </a:r>
            <a:endParaRPr sz="1350" b="0">
              <a:solidFill>
                <a:srgbClr val="F8FAFC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477000" y="32385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762750" y="31623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用自然语言描述投诉或政策咨询</a:t>
            </a:r>
            <a:endParaRPr sz="1350" b="0">
              <a:solidFill>
                <a:srgbClr val="F8FAFC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477000" y="40195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762750" y="39433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HiAgent 追问地址、时间、时长、频率等关键信息</a:t>
            </a:r>
            <a:endParaRPr sz="1350" b="0">
              <a:solidFill>
                <a:srgbClr val="F8FAFC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477000" y="48006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762750" y="47244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居民确认后生成工单，并实时查看处理进度</a:t>
            </a:r>
            <a:endParaRPr sz="1350" b="0">
              <a:solidFill>
                <a:srgbClr val="F8FAF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3246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数字网格员 · AI Agent 驱动的社区治理自动化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25200" y="63246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06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4191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DIGITAL GRID WORKER</a:t>
            </a:r>
            <a:endParaRPr sz="975" b="1">
              <a:solidFill>
                <a:srgbClr val="22D3EE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7429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网格员端：只看到自己网格的工单</a:t>
            </a:r>
            <a:endParaRPr sz="2625" b="1">
              <a:solidFill>
                <a:srgbClr val="F8FAF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409700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网页工作台自动刷新，后端强制按角色过滤数据</a:t>
            </a:r>
            <a:endParaRPr sz="1350" b="0">
              <a:solidFill>
                <a:srgbClr val="94A3B8"/>
              </a:solidFill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85800" y="1885950"/>
            <a:ext cx="609600" cy="0"/>
          </a:xfrm>
          <a:prstGeom prst="line">
            <a:avLst/>
          </a:prstGeom>
          <a:noFill/>
          <a:ln w="28575">
            <a:solidFill>
              <a:srgbClr val="34D399"/>
            </a:solidFill>
            <a:prstDash val="solid"/>
          </a:ln>
        </p:spPr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74081"/>
            <a:ext cx="5905500" cy="3690938"/>
          </a:xfrm>
          <a:prstGeom prst="rect">
            <a:avLst/>
          </a:prstGeom>
        </p:spPr>
      </p:pic>
      <p:sp>
        <p:nvSpPr>
          <p:cNvPr id="9" name="圆角矩形 8"/>
          <p:cNvSpPr>
            <a:spLocks noGrp="1"/>
          </p:cNvSpPr>
          <p:nvPr/>
        </p:nvSpPr>
        <p:spPr>
          <a:xfrm>
            <a:off x="7048500" y="24574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334250" y="2381250"/>
            <a:ext cx="4095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登录后每 5 秒自动刷新，小程序新工单实时显示</a:t>
            </a:r>
            <a:endParaRPr sz="1275" b="0">
              <a:solidFill>
                <a:srgbClr val="F8FAFC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0" y="30480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334250" y="2971800"/>
            <a:ext cx="4095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工单显示登记住址、事发地址、持续时长、责任网格员</a:t>
            </a:r>
            <a:endParaRPr sz="1275" b="0">
              <a:solidFill>
                <a:srgbClr val="F8FAFC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0" y="36385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334250" y="3562350"/>
            <a:ext cx="4095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支持标准 Excel 表格批量导入居民和诉求</a:t>
            </a:r>
            <a:endParaRPr sz="1275" b="0">
              <a:solidFill>
                <a:srgbClr val="F8FAFC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048500" y="42291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334250" y="4152900"/>
            <a:ext cx="4095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年龄较大的居民可由网格员灵活代为登记</a:t>
            </a:r>
            <a:endParaRPr sz="1275" b="0">
              <a:solidFill>
                <a:srgbClr val="F8FAFC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048500" y="4819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334250" y="4743450"/>
            <a:ext cx="4095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网格员只能查看派给自己的工单</a:t>
            </a:r>
            <a:endParaRPr sz="1275" b="0">
              <a:solidFill>
                <a:srgbClr val="F8FAFC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7048500" y="54102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334250" y="5334000"/>
            <a:ext cx="4095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管理员和社区负责人可手动改派</a:t>
            </a:r>
            <a:endParaRPr sz="1275" b="0">
              <a:solidFill>
                <a:srgbClr val="F8FAFC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3246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数字网格员 · AI Agent 驱动的社区治理自动化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25200" y="63246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07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4191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DIGITAL GRID WORKER</a:t>
            </a:r>
            <a:endParaRPr sz="975" b="1">
              <a:solidFill>
                <a:srgbClr val="22D3EE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7429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标准 Excel 批量导入与适老化灵活登记</a:t>
            </a:r>
            <a:endParaRPr sz="2625" b="1">
              <a:solidFill>
                <a:srgbClr val="F8FAF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409700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微信群回收登记表后统一录入，不熟悉小程序的居民可由网格员代为登记</a:t>
            </a:r>
            <a:endParaRPr sz="1350" b="0">
              <a:solidFill>
                <a:srgbClr val="94A3B8"/>
              </a:solidFill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85800" y="1885950"/>
            <a:ext cx="609600" cy="0"/>
          </a:xfrm>
          <a:prstGeom prst="line">
            <a:avLst/>
          </a:prstGeom>
          <a:noFill/>
          <a:ln w="28575">
            <a:solidFill>
              <a:srgbClr val="34D399"/>
            </a:solidFill>
            <a:prstDash val="solid"/>
          </a:ln>
        </p:spPr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819" y="2171700"/>
            <a:ext cx="4113961" cy="3810000"/>
          </a:xfrm>
          <a:prstGeom prst="rect">
            <a:avLst/>
          </a:prstGeom>
        </p:spPr>
      </p:pic>
      <p:sp>
        <p:nvSpPr>
          <p:cNvPr id="9" name="圆角矩形 8"/>
          <p:cNvSpPr>
            <a:spLocks noGrp="1"/>
          </p:cNvSpPr>
          <p:nvPr/>
        </p:nvSpPr>
        <p:spPr>
          <a:xfrm>
            <a:off x="6477000" y="2286000"/>
            <a:ext cx="4921250" cy="1176655"/>
          </a:xfrm>
          <a:prstGeom prst="roundRect">
            <a:avLst>
              <a:gd name="adj" fmla="val 18750"/>
            </a:avLst>
          </a:prstGeom>
          <a:solidFill>
            <a:srgbClr val="0C2233"/>
          </a:solidFill>
          <a:ln w="9525">
            <a:solidFill>
              <a:srgbClr val="1E4A66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858000" y="2514600"/>
            <a:ext cx="419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rPr sz="1800" b="1">
                <a:solidFill>
                  <a:srgbClr val="34D399"/>
                </a:solidFill>
              </a:rPr>
              <a:t>提供标准 Excel 登记表格模板</a:t>
            </a:r>
            <a:endParaRPr sz="1800" b="1">
              <a:solidFill>
                <a:srgbClr val="34D399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0" y="2914650"/>
            <a:ext cx="4191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字段包含登记类型、姓名、手机号、所属社区、所属网格、现居住地址</a:t>
            </a:r>
            <a:endParaRPr sz="1200" b="0">
              <a:solidFill>
                <a:srgbClr val="F8FAFC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477000" y="36957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762750" y="36195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网格员发放标准表格，居民填写后回收，系统一键导入</a:t>
            </a:r>
            <a:endParaRPr sz="1275" b="0">
              <a:solidFill>
                <a:srgbClr val="F8FAFC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477000" y="43624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762750" y="42862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自动识别新增登记、地址变更与重复档案</a:t>
            </a:r>
            <a:endParaRPr sz="1275" b="0">
              <a:solidFill>
                <a:srgbClr val="F8FAFC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477000" y="50292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762750" y="49530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保留单个新增登记入口，年龄较大的居民可灵活代为登记</a:t>
            </a:r>
            <a:endParaRPr sz="1275" b="0">
              <a:solidFill>
                <a:srgbClr val="F8FAFC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477000" y="56959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762750" y="56197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适合微信群、纸质登记表等多种线下场景</a:t>
            </a:r>
            <a:endParaRPr sz="1275" b="0">
              <a:solidFill>
                <a:srgbClr val="F8FAFC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3246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数字网格员 · AI Agent 驱动的社区治理自动化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25200" y="63246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08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4191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DIGITAL GRID WORKER</a:t>
            </a:r>
            <a:endParaRPr sz="975" b="1">
              <a:solidFill>
                <a:srgbClr val="22D3EE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7429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工单不再是聊天记录，而是结构化数据</a:t>
            </a:r>
            <a:endParaRPr sz="2625" b="1">
              <a:solidFill>
                <a:srgbClr val="F8FAF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409700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登记住址与事发地址分离，持续时长、发生频率独立成字段</a:t>
            </a:r>
            <a:endParaRPr sz="1350" b="0">
              <a:solidFill>
                <a:srgbClr val="94A3B8"/>
              </a:solidFill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85800" y="1885950"/>
            <a:ext cx="609600" cy="0"/>
          </a:xfrm>
          <a:prstGeom prst="line">
            <a:avLst/>
          </a:prstGeom>
          <a:noFill/>
          <a:ln w="28575">
            <a:solidFill>
              <a:srgbClr val="34D399"/>
            </a:solidFill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71700"/>
            <a:ext cx="5715000" cy="3429000"/>
          </a:xfrm>
          <a:prstGeom prst="rect">
            <a:avLst/>
          </a:prstGeom>
        </p:spPr>
      </p:pic>
      <p:sp>
        <p:nvSpPr>
          <p:cNvPr id="9" name="圆角矩形 8"/>
          <p:cNvSpPr>
            <a:spLocks noGrp="1"/>
          </p:cNvSpPr>
          <p:nvPr/>
        </p:nvSpPr>
        <p:spPr>
          <a:xfrm>
            <a:off x="6858000" y="24574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143750" y="2381250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居民信息：姓名、电话、登记住址、社区、网格</a:t>
            </a:r>
            <a:endParaRPr sz="1350" b="0">
              <a:solidFill>
                <a:srgbClr val="F8FAFC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858000" y="32385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143750" y="3162300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事发信息：地址、描述、发生时间、持续时长、频率</a:t>
            </a:r>
            <a:endParaRPr sz="1350" b="0">
              <a:solidFill>
                <a:srgbClr val="F8FAFC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858000" y="40195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143750" y="3943350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处置信息：是否已反映、责任部门、责任网格员、优先级</a:t>
            </a:r>
            <a:endParaRPr sz="1350" b="0">
              <a:solidFill>
                <a:srgbClr val="F8FAFC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858000" y="48006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143750" y="4724400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闭环信息：响应时限、工单状态、处理进度、归档记录</a:t>
            </a:r>
            <a:endParaRPr sz="1350" b="0">
              <a:solidFill>
                <a:srgbClr val="F8FAFC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3246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数字网格员 · AI Agent 驱动的社区治理自动化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25200" y="63246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09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4191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DIGITAL GRID WORKER</a:t>
            </a:r>
            <a:endParaRPr sz="975" b="1">
              <a:solidFill>
                <a:srgbClr val="22D3EE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7429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按社区和网格自动分派，后端强制隔离</a:t>
            </a:r>
            <a:endParaRPr sz="2625" b="1">
              <a:solidFill>
                <a:srgbClr val="F8FAF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409700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网格员、社区负责人、街道管理员、系统管理员分级可见</a:t>
            </a:r>
            <a:endParaRPr sz="1350" b="0">
              <a:solidFill>
                <a:srgbClr val="94A3B8"/>
              </a:solidFill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85800" y="1885950"/>
            <a:ext cx="609600" cy="0"/>
          </a:xfrm>
          <a:prstGeom prst="line">
            <a:avLst/>
          </a:prstGeom>
          <a:noFill/>
          <a:ln w="28575">
            <a:solidFill>
              <a:srgbClr val="34D399"/>
            </a:solidFill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71700"/>
            <a:ext cx="5905500" cy="3543300"/>
          </a:xfrm>
          <a:prstGeom prst="rect">
            <a:avLst/>
          </a:prstGeom>
        </p:spPr>
      </p:pic>
      <p:sp>
        <p:nvSpPr>
          <p:cNvPr id="9" name="圆角矩形 8"/>
          <p:cNvSpPr>
            <a:spLocks noGrp="1"/>
          </p:cNvSpPr>
          <p:nvPr/>
        </p:nvSpPr>
        <p:spPr>
          <a:xfrm>
            <a:off x="7048500" y="24574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334250" y="2381250"/>
            <a:ext cx="4095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工单创建后按社区和网格自动匹配网格员</a:t>
            </a:r>
            <a:endParaRPr sz="1350" b="0">
              <a:solidFill>
                <a:srgbClr val="F8FAFC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048500" y="32385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334250" y="3162300"/>
            <a:ext cx="4095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网格员只能查看派给自己的工单</a:t>
            </a:r>
            <a:endParaRPr sz="1350" b="0">
              <a:solidFill>
                <a:srgbClr val="F8FAFC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048500" y="40195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334250" y="3943350"/>
            <a:ext cx="4095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社区负责人可查看本社区全部工单</a:t>
            </a:r>
            <a:endParaRPr sz="1350" b="0">
              <a:solidFill>
                <a:srgbClr val="F8FAFC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048500" y="48006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334250" y="4724400"/>
            <a:ext cx="4095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管理员可查看全部并支持手动改派</a:t>
            </a:r>
            <a:endParaRPr sz="1350" b="0">
              <a:solidFill>
                <a:srgbClr val="F8FAFC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矩形 27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3246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数字网格员 · AI Agent 驱动的社区治理自动化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25200" y="63246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10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4191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DIGITAL GRID WORKER</a:t>
            </a:r>
            <a:endParaRPr sz="975" b="1">
              <a:solidFill>
                <a:srgbClr val="22D3EE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7429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Agent 起草，网格员确认，责任始终在人</a:t>
            </a:r>
            <a:endParaRPr sz="2625" b="1">
              <a:solidFill>
                <a:srgbClr val="F8FAF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409700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人机协同让 AI 提效，同时保留政务场景的责任边界</a:t>
            </a:r>
            <a:endParaRPr sz="1350" b="0">
              <a:solidFill>
                <a:srgbClr val="94A3B8"/>
              </a:solidFill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85800" y="1885950"/>
            <a:ext cx="609600" cy="0"/>
          </a:xfrm>
          <a:prstGeom prst="line">
            <a:avLst/>
          </a:prstGeom>
          <a:noFill/>
          <a:ln w="28575">
            <a:solidFill>
              <a:srgbClr val="34D399"/>
            </a:solidFill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685800" y="2381250"/>
            <a:ext cx="4953000" cy="3143250"/>
          </a:xfrm>
          <a:prstGeom prst="roundRect">
            <a:avLst>
              <a:gd name="adj" fmla="val 5455"/>
            </a:avLst>
          </a:prstGeom>
          <a:solidFill>
            <a:srgbClr val="0C2233"/>
          </a:solidFill>
          <a:ln w="9525">
            <a:solidFill>
              <a:srgbClr val="1E4A6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66800" y="2724150"/>
            <a:ext cx="419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2D3EE"/>
                </a:solidFill>
              </a:defRPr>
            </a:pPr>
            <a:r>
              <a:rPr sz="1800" b="1">
                <a:solidFill>
                  <a:srgbClr val="22D3EE"/>
                </a:solidFill>
              </a:rPr>
              <a:t>Agent 自动执行</a:t>
            </a:r>
            <a:endParaRPr sz="1800" b="1">
              <a:solidFill>
                <a:srgbClr val="22D3EE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066800" y="33147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352550" y="3238500"/>
            <a:ext cx="3905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意图识别与上下文补全</a:t>
            </a:r>
            <a:endParaRPr sz="1275" b="0">
              <a:solidFill>
                <a:srgbClr val="F8FAFC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066800" y="39243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352550" y="3848100"/>
            <a:ext cx="3905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政策知识库检索与引用</a:t>
            </a:r>
            <a:endParaRPr sz="1275" b="0">
              <a:solidFill>
                <a:srgbClr val="F8FAFC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066800" y="45339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352550" y="4457700"/>
            <a:ext cx="3905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工单字段抽取与草稿生成</a:t>
            </a:r>
            <a:endParaRPr sz="1275" b="0">
              <a:solidFill>
                <a:srgbClr val="F8FAFC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066800" y="51435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352550" y="5067300"/>
            <a:ext cx="3905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居民回复与进度同步</a:t>
            </a:r>
            <a:endParaRPr sz="1275" b="0">
              <a:solidFill>
                <a:srgbClr val="F8FAFC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553200" y="2381250"/>
            <a:ext cx="4953000" cy="3143250"/>
          </a:xfrm>
          <a:prstGeom prst="roundRect">
            <a:avLst>
              <a:gd name="adj" fmla="val 5455"/>
            </a:avLst>
          </a:prstGeom>
          <a:solidFill>
            <a:srgbClr val="0C2233"/>
          </a:solidFill>
          <a:ln w="9525">
            <a:solidFill>
              <a:srgbClr val="1E4A6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934200" y="2724150"/>
            <a:ext cx="419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rPr sz="1800" b="1">
                <a:solidFill>
                  <a:srgbClr val="34D399"/>
                </a:solidFill>
              </a:rPr>
              <a:t>人工确认与处置</a:t>
            </a:r>
            <a:endParaRPr sz="1800" b="1">
              <a:solidFill>
                <a:srgbClr val="34D399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934200" y="33147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219950" y="3238500"/>
            <a:ext cx="3905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工单确认与内容复核</a:t>
            </a:r>
            <a:endParaRPr sz="1275" b="0">
              <a:solidFill>
                <a:srgbClr val="F8FAFC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6934200" y="39243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219950" y="3848100"/>
            <a:ext cx="3905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网格员处置与反馈</a:t>
            </a:r>
            <a:endParaRPr sz="1275" b="0">
              <a:solidFill>
                <a:srgbClr val="F8FAFC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6934200" y="45339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219950" y="4457700"/>
            <a:ext cx="3905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高风险事项转人工介入</a:t>
            </a:r>
            <a:endParaRPr sz="1275" b="0">
              <a:solidFill>
                <a:srgbClr val="F8FAFC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6934200" y="51435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219950" y="5067300"/>
            <a:ext cx="3905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最终归档由网格员确认</a:t>
            </a:r>
            <a:endParaRPr sz="1275" b="0">
              <a:solidFill>
                <a:srgbClr val="F8FAFC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3246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数字网格员 · AI Agent 驱动的社区治理自动化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25200" y="63246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11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4191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DIGITAL GRID WORKER</a:t>
            </a:r>
            <a:endParaRPr sz="975" b="1">
              <a:solidFill>
                <a:srgbClr val="22D3EE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7429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Windows、macOS 与 Linux 一键部署</a:t>
            </a:r>
            <a:endParaRPr sz="2625" b="1">
              <a:solidFill>
                <a:srgbClr val="F8FAF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409700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同一套系统可以快速复制到街道、社区或不同服务器</a:t>
            </a:r>
            <a:endParaRPr sz="1350" b="0">
              <a:solidFill>
                <a:srgbClr val="94A3B8"/>
              </a:solidFill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85800" y="1885950"/>
            <a:ext cx="609600" cy="0"/>
          </a:xfrm>
          <a:prstGeom prst="line">
            <a:avLst/>
          </a:prstGeom>
          <a:noFill/>
          <a:ln w="28575">
            <a:solidFill>
              <a:srgbClr val="34D399"/>
            </a:solidFill>
            <a:prstDash val="solid"/>
          </a:ln>
        </p:spPr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71700"/>
            <a:ext cx="5715000" cy="3429000"/>
          </a:xfrm>
          <a:prstGeom prst="rect">
            <a:avLst/>
          </a:prstGeom>
        </p:spPr>
      </p:pic>
      <p:sp>
        <p:nvSpPr>
          <p:cNvPr id="9" name="圆角矩形 8"/>
          <p:cNvSpPr>
            <a:spLocks noGrp="1"/>
          </p:cNvSpPr>
          <p:nvPr/>
        </p:nvSpPr>
        <p:spPr>
          <a:xfrm>
            <a:off x="6858000" y="24574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143750" y="2381250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Windows PowerShell 与 macOS/Linux Shell 一键脚本</a:t>
            </a:r>
            <a:endParaRPr sz="1275" b="0">
              <a:solidFill>
                <a:srgbClr val="F8FAFC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858000" y="30480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143750" y="2971800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Linux 专用脚本自动识别 apt / dnf / yum</a:t>
            </a:r>
            <a:endParaRPr sz="1275" b="0">
              <a:solidFill>
                <a:srgbClr val="F8FAFC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858000" y="36385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143750" y="3562350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自动检查 Node.js、写入 HiAgent 配置、配置微信密钥</a:t>
            </a:r>
            <a:endParaRPr sz="1275" b="0">
              <a:solidFill>
                <a:srgbClr val="F8FAFC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858000" y="42291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143750" y="4152900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原版默认端口 3000，权限分派副本默认端口 3100</a:t>
            </a:r>
            <a:endParaRPr sz="1275" b="0">
              <a:solidFill>
                <a:srgbClr val="F8FAFC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858000" y="4819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143750" y="4743450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正式上线可通过 HTTPS 域名对外提供服务</a:t>
            </a:r>
            <a:endParaRPr sz="1275" b="0">
              <a:solidFill>
                <a:srgbClr val="F8FAFC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3246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数字网格员 · AI Agent 驱动的社区治理自动化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25200" y="63246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12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41910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DIGITAL GRID WORKER</a:t>
            </a:r>
            <a:endParaRPr sz="975" b="1">
              <a:solidFill>
                <a:srgbClr val="22D3EE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742950"/>
            <a:ext cx="10287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真实接口联调，多角色权限验证通过</a:t>
            </a:r>
            <a:endParaRPr sz="2625" b="1">
              <a:solidFill>
                <a:srgbClr val="F8FAF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409700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系统已在真实 HiAgent 环境完成端到端验证</a:t>
            </a:r>
            <a:endParaRPr sz="1350" b="0">
              <a:solidFill>
                <a:srgbClr val="94A3B8"/>
              </a:solidFill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85800" y="1885950"/>
            <a:ext cx="609600" cy="0"/>
          </a:xfrm>
          <a:prstGeom prst="line">
            <a:avLst/>
          </a:prstGeom>
          <a:noFill/>
          <a:ln w="28575">
            <a:solidFill>
              <a:srgbClr val="34D399"/>
            </a:solidFill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685800" y="24574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2381250"/>
            <a:ext cx="561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HiAgent 真实接口连续多轮对话成功</a:t>
            </a:r>
            <a:endParaRPr sz="1350" b="0">
              <a:solidFill>
                <a:srgbClr val="F8FAFC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85800" y="30861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71550" y="3009900"/>
            <a:ext cx="561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happen_time 等结构化字段可写入工单</a:t>
            </a:r>
            <a:endParaRPr sz="1350" b="0">
              <a:solidFill>
                <a:srgbClr val="F8FAFC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85800" y="37147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71550" y="3638550"/>
            <a:ext cx="561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工单按社区和网格自动分派</a:t>
            </a:r>
            <a:endParaRPr sz="1350" b="0">
              <a:solidFill>
                <a:srgbClr val="F8FAFC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85800" y="43434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71550" y="4267200"/>
            <a:ext cx="561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其他网格员无法查看非本人工单</a:t>
            </a:r>
            <a:endParaRPr sz="1350" b="0">
              <a:solidFill>
                <a:srgbClr val="F8FAFC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85800" y="49720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71550" y="4895850"/>
            <a:ext cx="561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管理员手动改派后可见范围实时更新</a:t>
            </a:r>
            <a:endParaRPr sz="1350" b="0">
              <a:solidFill>
                <a:srgbClr val="F8FAFC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85800" y="56007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71550" y="5524500"/>
            <a:ext cx="561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网页端自动轮询，小程序新工单数秒内显示</a:t>
            </a:r>
            <a:endParaRPr sz="1350" b="0">
              <a:solidFill>
                <a:srgbClr val="F8FAFC"/>
              </a:solidFill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8500" y="2536031"/>
            <a:ext cx="4381500" cy="27384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3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2D3EE"/>
          </a:solidFill>
          <a:ln w="9525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3246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数字网格员 · AI Agent 驱动的社区治理自动化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125200" y="63246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13</a:t>
            </a:r>
            <a:endParaRPr sz="900" b="0">
              <a:solidFill>
                <a:srgbClr val="94A3B8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1619250"/>
            <a:ext cx="47625" cy="3238500"/>
          </a:xfrm>
          <a:prstGeom prst="rect">
            <a:avLst/>
          </a:prstGeom>
          <a:solidFill>
            <a:srgbClr val="34D399"/>
          </a:solidFill>
          <a:ln w="9525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19200" y="211455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数字网格员不是替代网格员</a:t>
            </a:r>
            <a:endParaRPr sz="3000" b="1">
              <a:solidFill>
                <a:srgbClr val="F8FAF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57300" y="3009900"/>
            <a:ext cx="8572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CBD5E1"/>
                </a:solidFill>
              </a:rPr>
              <a:t>而是让网格员从大量重复登记、分拣、回复中解放出来，把精力留给真正需要人工判断和处置的事务。</a:t>
            </a:r>
            <a:endParaRPr sz="1800" b="0">
              <a:solidFill>
                <a:srgbClr val="CBD5E1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257300" y="42672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2D3EE"/>
                </a:solidFill>
              </a:defRPr>
            </a:pPr>
            <a:r>
              <a:rPr sz="1950" b="1">
                <a:solidFill>
                  <a:srgbClr val="22D3EE"/>
                </a:solidFill>
              </a:rPr>
              <a:t>小网格 · 大治理</a:t>
            </a:r>
            <a:endParaRPr sz="1950" b="1">
              <a:solidFill>
                <a:srgbClr val="22D3EE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57300" y="4953000"/>
            <a:ext cx="762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数字网格员：AI Agent 驱动的社区治理自动化</a:t>
            </a:r>
            <a:endParaRPr sz="1350" b="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2374</Words>
  <Application>WPS 表格</Application>
  <PresentationFormat>Converted Presentation</PresentationFormat>
  <Paragraphs>250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宋体</vt:lpstr>
      <vt:lpstr>Wingdings</vt:lpstr>
      <vt:lpstr>Calibri</vt:lpstr>
      <vt:lpstr>Helvetica Neue</vt:lpstr>
      <vt:lpstr>宋体</vt:lpstr>
      <vt:lpstr>汉仪书宋二KW</vt:lpstr>
      <vt:lpstr>微软雅黑</vt:lpstr>
      <vt:lpstr>方正雅意黑 GB18030L2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冯奕达</cp:lastModifiedBy>
  <cp:revision>3</cp:revision>
  <dcterms:created xsi:type="dcterms:W3CDTF">2026-08-31T12:24:11Z</dcterms:created>
  <dcterms:modified xsi:type="dcterms:W3CDTF">2026-08-31T12:24:11Z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42CB2090268946246B72956A0F16FA2A_43</vt:lpwstr>
  </property>
  <property fmtid="{D5CDD505-2E9C-101B-9397-08002B2CF9AE}" pid="3" name="KSOProductBuildVer">
    <vt:lpwstr>2052-12.1.26046.26046</vt:lpwstr>
  </property>
</Properties>
</file>